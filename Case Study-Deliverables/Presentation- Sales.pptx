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7"/>
  </p:notesMasterIdLst>
  <p:handoutMasterIdLst>
    <p:handoutMasterId r:id="rId18"/>
  </p:handoutMasterIdLst>
  <p:sldIdLst>
    <p:sldId id="256" r:id="rId5"/>
    <p:sldId id="264" r:id="rId6"/>
    <p:sldId id="261" r:id="rId7"/>
    <p:sldId id="262" r:id="rId8"/>
    <p:sldId id="268" r:id="rId9"/>
    <p:sldId id="270" r:id="rId10"/>
    <p:sldId id="269" r:id="rId11"/>
    <p:sldId id="271" r:id="rId12"/>
    <p:sldId id="263" r:id="rId13"/>
    <p:sldId id="272" r:id="rId14"/>
    <p:sldId id="273"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7030A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5951" autoAdjust="0"/>
  </p:normalViewPr>
  <p:slideViewPr>
    <p:cSldViewPr snapToGrid="0" showGuides="1">
      <p:cViewPr varScale="1">
        <p:scale>
          <a:sx n="95" d="100"/>
          <a:sy n="95" d="100"/>
        </p:scale>
        <p:origin x="67" y="53"/>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11/15/2025</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11/15/2025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2</a:t>
            </a:fld>
            <a:endParaRPr lang="en-US" noProof="0" dirty="0"/>
          </a:p>
        </p:txBody>
      </p:sp>
    </p:spTree>
    <p:extLst>
      <p:ext uri="{BB962C8B-B14F-4D97-AF65-F5344CB8AC3E}">
        <p14:creationId xmlns:p14="http://schemas.microsoft.com/office/powerpoint/2010/main" val="429524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3</a:t>
            </a:fld>
            <a:endParaRPr lang="en-US"/>
          </a:p>
        </p:txBody>
      </p:sp>
    </p:spTree>
    <p:extLst>
      <p:ext uri="{BB962C8B-B14F-4D97-AF65-F5344CB8AC3E}">
        <p14:creationId xmlns:p14="http://schemas.microsoft.com/office/powerpoint/2010/main" val="1859640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4</a:t>
            </a:fld>
            <a:endParaRPr lang="en-US" noProof="0" dirty="0"/>
          </a:p>
        </p:txBody>
      </p:sp>
    </p:spTree>
    <p:extLst>
      <p:ext uri="{BB962C8B-B14F-4D97-AF65-F5344CB8AC3E}">
        <p14:creationId xmlns:p14="http://schemas.microsoft.com/office/powerpoint/2010/main" val="857514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5</a:t>
            </a:fld>
            <a:endParaRPr lang="en-US" noProof="0" dirty="0"/>
          </a:p>
        </p:txBody>
      </p:sp>
    </p:spTree>
    <p:extLst>
      <p:ext uri="{BB962C8B-B14F-4D97-AF65-F5344CB8AC3E}">
        <p14:creationId xmlns:p14="http://schemas.microsoft.com/office/powerpoint/2010/main" val="3129709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6</a:t>
            </a:fld>
            <a:endParaRPr lang="en-US" noProof="0" dirty="0"/>
          </a:p>
        </p:txBody>
      </p:sp>
    </p:spTree>
    <p:extLst>
      <p:ext uri="{BB962C8B-B14F-4D97-AF65-F5344CB8AC3E}">
        <p14:creationId xmlns:p14="http://schemas.microsoft.com/office/powerpoint/2010/main" val="529929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7</a:t>
            </a:fld>
            <a:endParaRPr lang="en-US" noProof="0" dirty="0"/>
          </a:p>
        </p:txBody>
      </p:sp>
    </p:spTree>
    <p:extLst>
      <p:ext uri="{BB962C8B-B14F-4D97-AF65-F5344CB8AC3E}">
        <p14:creationId xmlns:p14="http://schemas.microsoft.com/office/powerpoint/2010/main" val="1117731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8</a:t>
            </a:fld>
            <a:endParaRPr lang="en-US" noProof="0" dirty="0"/>
          </a:p>
        </p:txBody>
      </p:sp>
    </p:spTree>
    <p:extLst>
      <p:ext uri="{BB962C8B-B14F-4D97-AF65-F5344CB8AC3E}">
        <p14:creationId xmlns:p14="http://schemas.microsoft.com/office/powerpoint/2010/main" val="949447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9</a:t>
            </a:fld>
            <a:endParaRPr lang="en-US" noProof="0" dirty="0"/>
          </a:p>
        </p:txBody>
      </p:sp>
    </p:spTree>
    <p:extLst>
      <p:ext uri="{BB962C8B-B14F-4D97-AF65-F5344CB8AC3E}">
        <p14:creationId xmlns:p14="http://schemas.microsoft.com/office/powerpoint/2010/main" val="882671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10</a:t>
            </a:fld>
            <a:endParaRPr lang="en-US" noProof="0" dirty="0"/>
          </a:p>
        </p:txBody>
      </p:sp>
    </p:spTree>
    <p:extLst>
      <p:ext uri="{BB962C8B-B14F-4D97-AF65-F5344CB8AC3E}">
        <p14:creationId xmlns:p14="http://schemas.microsoft.com/office/powerpoint/2010/main" val="101981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11</a:t>
            </a:fld>
            <a:endParaRPr lang="en-US" noProof="0" dirty="0"/>
          </a:p>
        </p:txBody>
      </p:sp>
    </p:spTree>
    <p:extLst>
      <p:ext uri="{BB962C8B-B14F-4D97-AF65-F5344CB8AC3E}">
        <p14:creationId xmlns:p14="http://schemas.microsoft.com/office/powerpoint/2010/main" val="2761213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5ACE04-E13C-4837-B6DD-B388E7CAA05E}" type="slidenum">
              <a:rPr lang="en-US" noProof="0" smtClean="0"/>
              <a:t>12</a:t>
            </a:fld>
            <a:endParaRPr lang="en-US" noProof="0" dirty="0"/>
          </a:p>
        </p:txBody>
      </p:sp>
    </p:spTree>
    <p:extLst>
      <p:ext uri="{BB962C8B-B14F-4D97-AF65-F5344CB8AC3E}">
        <p14:creationId xmlns:p14="http://schemas.microsoft.com/office/powerpoint/2010/main" val="264119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11/15/2025</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smtClean="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smtClean="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11/15/2025</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smtClean="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11/15/2025</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smtClean="0"/>
              <a:t>Click to edit Master title style</a:t>
            </a:r>
            <a:endParaRPr lang="en-US" noProof="0"/>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smtClean="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405564" y="2737303"/>
            <a:ext cx="7233557" cy="832077"/>
          </a:xfrm>
        </p:spPr>
        <p:txBody>
          <a:bodyPr>
            <a:normAutofit fontScale="90000"/>
          </a:bodyPr>
          <a:lstStyle/>
          <a:p>
            <a:r>
              <a:rPr lang="en-IN" dirty="0" smtClean="0"/>
              <a:t>SALES analysis Presentation</a:t>
            </a:r>
            <a:endParaRPr lang="en-IN" dirty="0"/>
          </a:p>
        </p:txBody>
      </p:sp>
      <p:sp>
        <p:nvSpPr>
          <p:cNvPr id="3" name="Subtitle 2">
            <a:extLst>
              <a:ext uri="{FF2B5EF4-FFF2-40B4-BE49-F238E27FC236}">
                <a16:creationId xmlns:a16="http://schemas.microsoft.com/office/drawing/2014/main" id="{F1DF7D53-1D50-48D8-B3B4-B9632324B2AB}"/>
              </a:ext>
            </a:extLst>
          </p:cNvPr>
          <p:cNvSpPr>
            <a:spLocks noGrp="1"/>
          </p:cNvSpPr>
          <p:nvPr>
            <p:ph type="subTitle" idx="1"/>
          </p:nvPr>
        </p:nvSpPr>
        <p:spPr/>
        <p:txBody>
          <a:bodyPr/>
          <a:lstStyle/>
          <a:p>
            <a:r>
              <a:rPr lang="en-IN" dirty="0" smtClean="0"/>
              <a:t>Gomolemo Moabalobelo</a:t>
            </a:r>
            <a:endParaRPr lang="en-IN" dirty="0"/>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209E-D17D-4F20-A6D0-C685853DE76E}"/>
              </a:ext>
            </a:extLst>
          </p:cNvPr>
          <p:cNvSpPr>
            <a:spLocks noGrp="1"/>
          </p:cNvSpPr>
          <p:nvPr>
            <p:ph type="title"/>
          </p:nvPr>
        </p:nvSpPr>
        <p:spPr>
          <a:xfrm>
            <a:off x="251121" y="3027361"/>
            <a:ext cx="3206261" cy="898357"/>
          </a:xfrm>
        </p:spPr>
        <p:txBody>
          <a:bodyPr/>
          <a:lstStyle/>
          <a:p>
            <a:r>
              <a:rPr lang="en-US" sz="6000" dirty="0" smtClean="0"/>
              <a:t>TABLE OF CONTENT</a:t>
            </a:r>
            <a:endParaRPr lang="en-US" sz="6000" dirty="0"/>
          </a:p>
        </p:txBody>
      </p:sp>
      <p:sp>
        <p:nvSpPr>
          <p:cNvPr id="4" name="Content Placeholder 3">
            <a:extLst>
              <a:ext uri="{FF2B5EF4-FFF2-40B4-BE49-F238E27FC236}">
                <a16:creationId xmlns:a16="http://schemas.microsoft.com/office/drawing/2014/main" id="{54E05A85-0100-4B67-A2A5-22134AD6255A}"/>
              </a:ext>
            </a:extLst>
          </p:cNvPr>
          <p:cNvSpPr>
            <a:spLocks noGrp="1"/>
          </p:cNvSpPr>
          <p:nvPr>
            <p:ph sz="half" idx="2"/>
          </p:nvPr>
        </p:nvSpPr>
        <p:spPr>
          <a:xfrm>
            <a:off x="4058653" y="1677976"/>
            <a:ext cx="7700210" cy="4353856"/>
          </a:xfrm>
        </p:spPr>
        <p:txBody>
          <a:bodyPr/>
          <a:lstStyle/>
          <a:p>
            <a:pPr marL="0" indent="0">
              <a:buNone/>
            </a:pPr>
            <a:r>
              <a:rPr lang="en-US" sz="1600" dirty="0" smtClean="0"/>
              <a:t>Introduction 							3</a:t>
            </a:r>
          </a:p>
          <a:p>
            <a:pPr marL="0" indent="0">
              <a:buNone/>
            </a:pPr>
            <a:r>
              <a:rPr lang="en-US" sz="1600" dirty="0" smtClean="0"/>
              <a:t/>
            </a:r>
            <a:br>
              <a:rPr lang="en-US" sz="1600" dirty="0" smtClean="0"/>
            </a:br>
            <a:r>
              <a:rPr lang="en-US" sz="1600" dirty="0" smtClean="0"/>
              <a:t>Daily and Average unit sales price 					4-5</a:t>
            </a:r>
          </a:p>
          <a:p>
            <a:pPr marL="0" indent="0">
              <a:buNone/>
            </a:pPr>
            <a:r>
              <a:rPr lang="en-US" sz="1600" dirty="0" smtClean="0"/>
              <a:t/>
            </a:r>
            <a:br>
              <a:rPr lang="en-US" sz="1600" dirty="0" smtClean="0"/>
            </a:br>
            <a:r>
              <a:rPr lang="en-US" sz="1600" dirty="0" smtClean="0"/>
              <a:t>Daily % </a:t>
            </a:r>
            <a:r>
              <a:rPr lang="en-US" dirty="0"/>
              <a:t>Gross profit </a:t>
            </a:r>
            <a:r>
              <a:rPr lang="en-US" dirty="0" smtClean="0"/>
              <a:t>							6</a:t>
            </a:r>
          </a:p>
          <a:p>
            <a:pPr marL="0" indent="0">
              <a:buNone/>
            </a:pPr>
            <a:r>
              <a:rPr lang="en-US" dirty="0"/>
              <a:t/>
            </a:r>
            <a:br>
              <a:rPr lang="en-US" dirty="0"/>
            </a:br>
            <a:r>
              <a:rPr lang="en-US" dirty="0"/>
              <a:t>Daily % Gross </a:t>
            </a:r>
            <a:r>
              <a:rPr lang="en-US" dirty="0" smtClean="0"/>
              <a:t>profit per unit 						7</a:t>
            </a:r>
          </a:p>
          <a:p>
            <a:pPr marL="0" indent="0">
              <a:buNone/>
            </a:pPr>
            <a:r>
              <a:rPr lang="en-US" dirty="0" smtClean="0"/>
              <a:t/>
            </a:r>
            <a:br>
              <a:rPr lang="en-US" dirty="0" smtClean="0"/>
            </a:br>
            <a:r>
              <a:rPr lang="en-US" dirty="0" smtClean="0"/>
              <a:t>Impact of Promotional Price on January sales performance 			8</a:t>
            </a:r>
          </a:p>
          <a:p>
            <a:pPr marL="0" indent="0">
              <a:buNone/>
            </a:pPr>
            <a:r>
              <a:rPr lang="en-US" dirty="0" smtClean="0"/>
              <a:t/>
            </a:r>
            <a:br>
              <a:rPr lang="en-US" dirty="0" smtClean="0"/>
            </a:br>
            <a:r>
              <a:rPr lang="en-US" dirty="0"/>
              <a:t>Price Elasticity of Demand Analysis for Promotional Periods in </a:t>
            </a:r>
            <a:r>
              <a:rPr lang="en-US" dirty="0" smtClean="0"/>
              <a:t>January 		9</a:t>
            </a:r>
            <a:br>
              <a:rPr lang="en-US" dirty="0" smtClean="0"/>
            </a:br>
            <a:endParaRPr lang="en-US" dirty="0" smtClean="0"/>
          </a:p>
          <a:p>
            <a:pPr marL="0" indent="0">
              <a:buNone/>
            </a:pPr>
            <a:r>
              <a:rPr lang="en-US" dirty="0" smtClean="0"/>
              <a:t>Does </a:t>
            </a:r>
            <a:r>
              <a:rPr lang="en-US" dirty="0"/>
              <a:t>this product perform better or worse when sold at a promotional price</a:t>
            </a:r>
            <a:r>
              <a:rPr lang="en-US" dirty="0" smtClean="0"/>
              <a:t>? 	10</a:t>
            </a:r>
            <a:br>
              <a:rPr lang="en-US" dirty="0" smtClean="0"/>
            </a:br>
            <a:r>
              <a:rPr lang="en-US" dirty="0" smtClean="0"/>
              <a:t/>
            </a:r>
            <a:br>
              <a:rPr lang="en-US" dirty="0" smtClean="0"/>
            </a:br>
            <a:r>
              <a:rPr lang="en-US" dirty="0" smtClean="0"/>
              <a:t>Conclusion 							11</a:t>
            </a:r>
            <a:br>
              <a:rPr lang="en-US" dirty="0" smtClean="0"/>
            </a:br>
            <a:r>
              <a:rPr lang="en-US" dirty="0" smtClean="0"/>
              <a:t/>
            </a:r>
            <a:br>
              <a:rPr lang="en-US" dirty="0" smtClean="0"/>
            </a:br>
            <a:r>
              <a:rPr lang="en-US" dirty="0" smtClean="0"/>
              <a:t/>
            </a:r>
            <a:br>
              <a:rPr lang="en-US" dirty="0" smtClean="0"/>
            </a:br>
            <a:r>
              <a:rPr lang="en-US" sz="1600" dirty="0" smtClean="0"/>
              <a:t/>
            </a:r>
            <a:br>
              <a:rPr lang="en-US" sz="1600" dirty="0" smtClean="0"/>
            </a:br>
            <a:r>
              <a:rPr lang="en-US" sz="1600" dirty="0" smtClean="0"/>
              <a:t/>
            </a:r>
            <a:br>
              <a:rPr lang="en-US" sz="1600" dirty="0" smtClean="0"/>
            </a:br>
            <a:endParaRPr lang="en-US" sz="1600" dirty="0"/>
          </a:p>
        </p:txBody>
      </p:sp>
      <p:sp>
        <p:nvSpPr>
          <p:cNvPr id="5" name="Slide Number Placeholder 4">
            <a:extLst>
              <a:ext uri="{FF2B5EF4-FFF2-40B4-BE49-F238E27FC236}">
                <a16:creationId xmlns:a16="http://schemas.microsoft.com/office/drawing/2014/main" id="{ABBA3DB3-A445-4949-AB8E-8B2F3C33366B}"/>
              </a:ext>
            </a:extLst>
          </p:cNvPr>
          <p:cNvSpPr>
            <a:spLocks noGrp="1"/>
          </p:cNvSpPr>
          <p:nvPr>
            <p:ph type="sldNum" sz="quarter" idx="12"/>
          </p:nvPr>
        </p:nvSpPr>
        <p:spPr/>
        <p:txBody>
          <a:bodyPr/>
          <a:lstStyle/>
          <a:p>
            <a:fld id="{48BB047D-A6CD-43AB-96F0-683C726B586B}" type="slidenum">
              <a:rPr lang="en-US" smtClean="0"/>
              <a:pPr/>
              <a:t>2</a:t>
            </a:fld>
            <a:endParaRPr lang="en-US" dirty="0"/>
          </a:p>
        </p:txBody>
      </p:sp>
    </p:spTree>
    <p:extLst>
      <p:ext uri="{BB962C8B-B14F-4D97-AF65-F5344CB8AC3E}">
        <p14:creationId xmlns:p14="http://schemas.microsoft.com/office/powerpoint/2010/main" val="191303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22C0-3CE1-4FA1-9604-2CFDBC95D0D2}"/>
              </a:ext>
            </a:extLst>
          </p:cNvPr>
          <p:cNvSpPr>
            <a:spLocks noGrp="1"/>
          </p:cNvSpPr>
          <p:nvPr>
            <p:ph type="title"/>
          </p:nvPr>
        </p:nvSpPr>
        <p:spPr/>
        <p:txBody>
          <a:bodyPr/>
          <a:lstStyle/>
          <a:p>
            <a:r>
              <a:rPr lang="en-US" sz="6000" dirty="0" err="1" smtClean="0"/>
              <a:t>iNTROdution</a:t>
            </a:r>
            <a:endParaRPr lang="en-US" sz="6000" dirty="0"/>
          </a:p>
        </p:txBody>
      </p:sp>
      <p:sp>
        <p:nvSpPr>
          <p:cNvPr id="4" name="Slide Number Placeholder 3">
            <a:extLst>
              <a:ext uri="{FF2B5EF4-FFF2-40B4-BE49-F238E27FC236}">
                <a16:creationId xmlns:a16="http://schemas.microsoft.com/office/drawing/2014/main" id="{63354ADE-29EB-4797-9A6F-40ABDA20E7A6}"/>
              </a:ext>
            </a:extLst>
          </p:cNvPr>
          <p:cNvSpPr>
            <a:spLocks noGrp="1"/>
          </p:cNvSpPr>
          <p:nvPr>
            <p:ph type="sldNum" sz="quarter" idx="12"/>
          </p:nvPr>
        </p:nvSpPr>
        <p:spPr/>
        <p:txBody>
          <a:bodyPr/>
          <a:lstStyle/>
          <a:p>
            <a:fld id="{48BB047D-A6CD-43AB-96F0-683C726B586B}" type="slidenum">
              <a:rPr lang="en-US" smtClean="0"/>
              <a:pPr/>
              <a:t>3</a:t>
            </a:fld>
            <a:endParaRPr lang="en-US" dirty="0"/>
          </a:p>
        </p:txBody>
      </p:sp>
      <p:sp>
        <p:nvSpPr>
          <p:cNvPr id="8" name="Content Placeholder 7"/>
          <p:cNvSpPr>
            <a:spLocks noGrp="1"/>
          </p:cNvSpPr>
          <p:nvPr>
            <p:ph sz="quarter" idx="14"/>
          </p:nvPr>
        </p:nvSpPr>
        <p:spPr/>
        <p:txBody>
          <a:bodyPr/>
          <a:lstStyle/>
          <a:p>
            <a:endParaRPr lang="en-ZA" dirty="0"/>
          </a:p>
        </p:txBody>
      </p:sp>
      <p:sp>
        <p:nvSpPr>
          <p:cNvPr id="14" name="Content Placeholder 2">
            <a:extLst>
              <a:ext uri="{FF2B5EF4-FFF2-40B4-BE49-F238E27FC236}">
                <a16:creationId xmlns:a16="http://schemas.microsoft.com/office/drawing/2014/main" id="{3E9BC3F2-B4B0-476E-B1B8-BF10CC2FF5AD}"/>
              </a:ext>
            </a:extLst>
          </p:cNvPr>
          <p:cNvSpPr>
            <a:spLocks noGrp="1"/>
          </p:cNvSpPr>
          <p:nvPr>
            <p:ph idx="1"/>
          </p:nvPr>
        </p:nvSpPr>
        <p:spPr>
          <a:xfrm>
            <a:off x="363415" y="2506662"/>
            <a:ext cx="8860795" cy="3454523"/>
          </a:xfrm>
        </p:spPr>
        <p:txBody>
          <a:bodyPr/>
          <a:lstStyle/>
          <a:p>
            <a:pPr marL="0" indent="0">
              <a:buNone/>
            </a:pPr>
            <a:r>
              <a:rPr lang="en-US" dirty="0" smtClean="0"/>
              <a:t>This </a:t>
            </a:r>
            <a:r>
              <a:rPr lang="en-US" dirty="0"/>
              <a:t>sales case study focuses on the daily trading information of a large retail store, aggregated at a daily level. The dataset contains sales activity for only one </a:t>
            </a:r>
            <a:r>
              <a:rPr lang="en-US" dirty="0" smtClean="0"/>
              <a:t>product.</a:t>
            </a:r>
          </a:p>
          <a:p>
            <a:pPr marL="0" indent="0">
              <a:buNone/>
            </a:pPr>
            <a:r>
              <a:rPr lang="en-US" dirty="0" smtClean="0"/>
              <a:t> </a:t>
            </a:r>
            <a:r>
              <a:rPr lang="en-US" dirty="0"/>
              <a:t>For the purpose of this analysis, we will concentrate specifically on the months of January and </a:t>
            </a:r>
            <a:r>
              <a:rPr lang="en-US" dirty="0" smtClean="0"/>
              <a:t>November year 2016, </a:t>
            </a:r>
            <a:r>
              <a:rPr lang="en-US" dirty="0"/>
              <a:t>allowing us to uncover trends, compare performance across periods, and identify meaningful patterns in customer purchasing behavior</a:t>
            </a:r>
            <a:r>
              <a:rPr lang="en-US" dirty="0" smtClean="0"/>
              <a:t>.</a:t>
            </a:r>
          </a:p>
          <a:p>
            <a:pPr marL="0" indent="0">
              <a:buNone/>
            </a:pPr>
            <a:r>
              <a:rPr lang="en-US" dirty="0"/>
              <a:t/>
            </a:r>
            <a:br>
              <a:rPr lang="en-US" dirty="0"/>
            </a:br>
            <a:r>
              <a:rPr lang="en-US" dirty="0"/>
              <a:t>By analyzing these two months in detail, we aim to better understand how price, cost, quantity, and promotional activity influence overall performance and profitability for this product.</a:t>
            </a:r>
            <a:endParaRPr lang="en-US" sz="1800" dirty="0"/>
          </a:p>
        </p:txBody>
      </p:sp>
    </p:spTree>
    <p:extLst>
      <p:ext uri="{BB962C8B-B14F-4D97-AF65-F5344CB8AC3E}">
        <p14:creationId xmlns:p14="http://schemas.microsoft.com/office/powerpoint/2010/main" val="80821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p:txBody>
          <a:bodyPr/>
          <a:lstStyle/>
          <a:p>
            <a:r>
              <a:rPr lang="en-US" dirty="0" smtClean="0"/>
              <a:t>Daily and average unit sales price</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4</a:t>
            </a:fld>
            <a:endParaRPr lang="en-US" dirty="0"/>
          </a:p>
        </p:txBody>
      </p:sp>
      <p:pic>
        <p:nvPicPr>
          <p:cNvPr id="3" name="Picture 2"/>
          <p:cNvPicPr>
            <a:picLocks noChangeAspect="1"/>
          </p:cNvPicPr>
          <p:nvPr/>
        </p:nvPicPr>
        <p:blipFill>
          <a:blip r:embed="rId3"/>
          <a:stretch>
            <a:fillRect/>
          </a:stretch>
        </p:blipFill>
        <p:spPr>
          <a:xfrm>
            <a:off x="363416" y="1845686"/>
            <a:ext cx="5131005" cy="2749534"/>
          </a:xfrm>
          <a:prstGeom prst="rect">
            <a:avLst/>
          </a:prstGeom>
        </p:spPr>
      </p:pic>
      <p:sp>
        <p:nvSpPr>
          <p:cNvPr id="5" name="TextBox 4"/>
          <p:cNvSpPr txBox="1"/>
          <p:nvPr/>
        </p:nvSpPr>
        <p:spPr>
          <a:xfrm>
            <a:off x="475710" y="4773600"/>
            <a:ext cx="9670922" cy="1938992"/>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Consolas" panose="020B0609020204030204" pitchFamily="49" charset="0"/>
              </a:rPr>
              <a:t>The month opened with stability, as the product consistently sold at the normal price from the 1st to the 5th, suggesting typical demand with no pricing intervention.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This </a:t>
            </a:r>
            <a:r>
              <a:rPr lang="en-US" sz="1200" dirty="0">
                <a:latin typeface="Consolas" panose="020B0609020204030204" pitchFamily="49" charset="0"/>
              </a:rPr>
              <a:t>was followed by a noticeable shift from the 6th to the 9th, when the price increased to R41, signaling a period of elevated pricing that may point to strategic markups or higher demand conditions.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Midway </a:t>
            </a:r>
            <a:r>
              <a:rPr lang="en-US" sz="1200" dirty="0">
                <a:latin typeface="Consolas" panose="020B0609020204030204" pitchFamily="49" charset="0"/>
              </a:rPr>
              <a:t>through the month, on the 20th, the price dropped to R33, placing the product briefly on discount before sharply rising again to R41 on the 21st.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Toward </a:t>
            </a:r>
            <a:r>
              <a:rPr lang="en-US" sz="1200" dirty="0">
                <a:latin typeface="Consolas" panose="020B0609020204030204" pitchFamily="49" charset="0"/>
              </a:rPr>
              <a:t>the end of the month, the product moved into a more sustained discount phase, selling at R34 from the 24th to the 28th and decreasing further to R33 from the 29th to the 31st.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This </a:t>
            </a:r>
            <a:r>
              <a:rPr lang="en-US" sz="1200" dirty="0">
                <a:latin typeface="Consolas" panose="020B0609020204030204" pitchFamily="49" charset="0"/>
              </a:rPr>
              <a:t>pattern reflects a month that started with normal pricing, experienced targeted increases, and ultimately settled into an extended discounting period</a:t>
            </a:r>
            <a:r>
              <a:rPr lang="en-US" sz="1050" dirty="0"/>
              <a:t>.</a:t>
            </a:r>
            <a:endParaRPr lang="en-ZA" sz="1050" dirty="0"/>
          </a:p>
        </p:txBody>
      </p:sp>
      <p:pic>
        <p:nvPicPr>
          <p:cNvPr id="6" name="Picture 5"/>
          <p:cNvPicPr>
            <a:picLocks noChangeAspect="1"/>
          </p:cNvPicPr>
          <p:nvPr/>
        </p:nvPicPr>
        <p:blipFill>
          <a:blip r:embed="rId4"/>
          <a:stretch>
            <a:fillRect/>
          </a:stretch>
        </p:blipFill>
        <p:spPr>
          <a:xfrm>
            <a:off x="6272462" y="1839589"/>
            <a:ext cx="5497781" cy="2755631"/>
          </a:xfrm>
          <a:prstGeom prst="rect">
            <a:avLst/>
          </a:prstGeom>
        </p:spPr>
      </p:pic>
    </p:spTree>
    <p:extLst>
      <p:ext uri="{BB962C8B-B14F-4D97-AF65-F5344CB8AC3E}">
        <p14:creationId xmlns:p14="http://schemas.microsoft.com/office/powerpoint/2010/main" val="54240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p:txBody>
          <a:bodyPr/>
          <a:lstStyle/>
          <a:p>
            <a:r>
              <a:rPr lang="en-US" dirty="0" smtClean="0"/>
              <a:t>Daily and average </a:t>
            </a:r>
            <a:r>
              <a:rPr lang="en-US" dirty="0"/>
              <a:t>unit sales </a:t>
            </a:r>
            <a:r>
              <a:rPr lang="en-US" dirty="0" smtClean="0"/>
              <a:t>price</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5</a:t>
            </a:fld>
            <a:endParaRPr lang="en-US" dirty="0"/>
          </a:p>
        </p:txBody>
      </p:sp>
      <p:pic>
        <p:nvPicPr>
          <p:cNvPr id="5" name="Picture 4"/>
          <p:cNvPicPr>
            <a:picLocks noChangeAspect="1"/>
          </p:cNvPicPr>
          <p:nvPr/>
        </p:nvPicPr>
        <p:blipFill>
          <a:blip r:embed="rId3"/>
          <a:stretch>
            <a:fillRect/>
          </a:stretch>
        </p:blipFill>
        <p:spPr>
          <a:xfrm>
            <a:off x="6456947" y="1847850"/>
            <a:ext cx="5371637" cy="2755631"/>
          </a:xfrm>
          <a:prstGeom prst="rect">
            <a:avLst/>
          </a:prstGeom>
        </p:spPr>
      </p:pic>
      <p:pic>
        <p:nvPicPr>
          <p:cNvPr id="6" name="Picture 5"/>
          <p:cNvPicPr>
            <a:picLocks noChangeAspect="1"/>
          </p:cNvPicPr>
          <p:nvPr/>
        </p:nvPicPr>
        <p:blipFill>
          <a:blip r:embed="rId4"/>
          <a:stretch>
            <a:fillRect/>
          </a:stretch>
        </p:blipFill>
        <p:spPr>
          <a:xfrm>
            <a:off x="363416" y="1847850"/>
            <a:ext cx="5346655" cy="2755631"/>
          </a:xfrm>
          <a:prstGeom prst="rect">
            <a:avLst/>
          </a:prstGeom>
        </p:spPr>
      </p:pic>
      <p:sp>
        <p:nvSpPr>
          <p:cNvPr id="8" name="TextBox 7"/>
          <p:cNvSpPr txBox="1"/>
          <p:nvPr/>
        </p:nvSpPr>
        <p:spPr>
          <a:xfrm>
            <a:off x="441158" y="4840846"/>
            <a:ext cx="10331116" cy="1754326"/>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Consolas" panose="020B0609020204030204" pitchFamily="49" charset="0"/>
              </a:rPr>
              <a:t>In November, the product exhibited a pattern of consistently high pricing throughout the early and middle part of the month.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From </a:t>
            </a:r>
            <a:r>
              <a:rPr lang="en-US" sz="1200" dirty="0">
                <a:latin typeface="Consolas" panose="020B0609020204030204" pitchFamily="49" charset="0"/>
              </a:rPr>
              <a:t>the 1st to the 14th, the unit sales price remained steady at R43, reflecting a period of stable demand at a level notably above the normal average, suggesting either strong market </a:t>
            </a:r>
            <a:r>
              <a:rPr lang="en-US" sz="1200" dirty="0" smtClean="0">
                <a:latin typeface="Consolas" panose="020B0609020204030204" pitchFamily="49" charset="0"/>
              </a:rPr>
              <a:t>positioning. </a:t>
            </a:r>
          </a:p>
          <a:p>
            <a:pPr marL="171450" indent="-171450">
              <a:buFont typeface="Arial" panose="020B0604020202020204" pitchFamily="34" charset="0"/>
              <a:buChar char="•"/>
            </a:pPr>
            <a:r>
              <a:rPr lang="en-US" sz="1200" dirty="0" smtClean="0">
                <a:latin typeface="Consolas" panose="020B0609020204030204" pitchFamily="49" charset="0"/>
              </a:rPr>
              <a:t>This </a:t>
            </a:r>
            <a:r>
              <a:rPr lang="en-US" sz="1200" dirty="0">
                <a:latin typeface="Consolas" panose="020B0609020204030204" pitchFamily="49" charset="0"/>
              </a:rPr>
              <a:t>consistent pricing was followed by a slight increase on the 15th and 16th, when the unit price rose to R44, indicating a deliberate upward adjustment, possibly in response to demand, inventory considerations, or strategic pricing decisions. </a:t>
            </a: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Overall</a:t>
            </a:r>
            <a:r>
              <a:rPr lang="en-US" sz="1200" dirty="0">
                <a:latin typeface="Consolas" panose="020B0609020204030204" pitchFamily="49" charset="0"/>
              </a:rPr>
              <a:t>, November demonstrates a month characterized by sustained premium pricing, with only a minor increase occurring in the middle of the month, highlighting a strategy focused on maintaining higher revenue per unit.</a:t>
            </a:r>
            <a:endParaRPr lang="en-ZA" sz="1200" dirty="0">
              <a:latin typeface="Consolas" panose="020B0609020204030204" pitchFamily="49" charset="0"/>
            </a:endParaRPr>
          </a:p>
        </p:txBody>
      </p:sp>
    </p:spTree>
    <p:extLst>
      <p:ext uri="{BB962C8B-B14F-4D97-AF65-F5344CB8AC3E}">
        <p14:creationId xmlns:p14="http://schemas.microsoft.com/office/powerpoint/2010/main" val="1179066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p:txBody>
          <a:bodyPr/>
          <a:lstStyle/>
          <a:p>
            <a:r>
              <a:rPr lang="en-US" dirty="0" smtClean="0"/>
              <a:t>DAILY % GROSS PROFIT</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6</a:t>
            </a:fld>
            <a:endParaRPr lang="en-US" dirty="0"/>
          </a:p>
        </p:txBody>
      </p:sp>
      <p:pic>
        <p:nvPicPr>
          <p:cNvPr id="3" name="Picture 2"/>
          <p:cNvPicPr>
            <a:picLocks noChangeAspect="1"/>
          </p:cNvPicPr>
          <p:nvPr/>
        </p:nvPicPr>
        <p:blipFill>
          <a:blip r:embed="rId3"/>
          <a:stretch>
            <a:fillRect/>
          </a:stretch>
        </p:blipFill>
        <p:spPr>
          <a:xfrm>
            <a:off x="535351" y="1818575"/>
            <a:ext cx="5087408" cy="2755631"/>
          </a:xfrm>
          <a:prstGeom prst="rect">
            <a:avLst/>
          </a:prstGeom>
        </p:spPr>
      </p:pic>
      <p:pic>
        <p:nvPicPr>
          <p:cNvPr id="4" name="Picture 3"/>
          <p:cNvPicPr>
            <a:picLocks noChangeAspect="1"/>
          </p:cNvPicPr>
          <p:nvPr/>
        </p:nvPicPr>
        <p:blipFill>
          <a:blip r:embed="rId4"/>
          <a:stretch>
            <a:fillRect/>
          </a:stretch>
        </p:blipFill>
        <p:spPr>
          <a:xfrm>
            <a:off x="6521116" y="1818575"/>
            <a:ext cx="5006732" cy="2755631"/>
          </a:xfrm>
          <a:prstGeom prst="rect">
            <a:avLst/>
          </a:prstGeom>
        </p:spPr>
      </p:pic>
      <p:sp>
        <p:nvSpPr>
          <p:cNvPr id="6" name="TextBox 5"/>
          <p:cNvSpPr txBox="1"/>
          <p:nvPr/>
        </p:nvSpPr>
        <p:spPr>
          <a:xfrm>
            <a:off x="591499" y="4653102"/>
            <a:ext cx="5031260"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In January, the product’s daily gross profit exhibited significant fluctuations. During the 1st to the 5th, the % gross profit was below zero, indicating that the product was sold at a loss during this period.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From </a:t>
            </a:r>
            <a:r>
              <a:rPr lang="en-US" sz="1100" dirty="0">
                <a:latin typeface="Consolas" panose="020B0609020204030204" pitchFamily="49" charset="0"/>
              </a:rPr>
              <a:t>the 6th to the 19th, the daily % gross profit stabilized at 7%, reflecting a period of consistent profitability and effective pricing. However, from the 20th to the 31st, the % gross profit again fell below zero, showing that the product returned to loss-making sales toward the end of the </a:t>
            </a:r>
            <a:r>
              <a:rPr lang="en-US" sz="1100" dirty="0" smtClean="0">
                <a:latin typeface="Consolas" panose="020B0609020204030204" pitchFamily="49" charset="0"/>
              </a:rPr>
              <a:t>month.</a:t>
            </a: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January displayed a clear cycle of initial losses, a mid-month period of steady profit, and a concluding phase of negative gross profit.</a:t>
            </a:r>
            <a:endParaRPr lang="en-ZA" sz="1100" dirty="0">
              <a:latin typeface="Consolas" panose="020B0609020204030204" pitchFamily="49" charset="0"/>
            </a:endParaRPr>
          </a:p>
        </p:txBody>
      </p:sp>
      <p:sp>
        <p:nvSpPr>
          <p:cNvPr id="8" name="TextBox 7"/>
          <p:cNvSpPr txBox="1"/>
          <p:nvPr/>
        </p:nvSpPr>
        <p:spPr>
          <a:xfrm>
            <a:off x="6521116" y="4653102"/>
            <a:ext cx="5006732" cy="1785104"/>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In November, the product’s daily % gross profit began with a slight decline from 13% to 12% in the first two days, followed by a sharper drop to 6% by the 5th. Profitability then stabilized at 6% until the 10th, before dipping slightly to 5%, where it remained steady through the 14th. Mid-month, margins improved, rising to 8% on the 14th and 15th and holding through the 16th.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November showed early declines, a mid-month period of low but stable profit, and a modest recovery toward the middle of the month.</a:t>
            </a:r>
            <a:endParaRPr lang="en-ZA" sz="1100" dirty="0">
              <a:latin typeface="Consolas" panose="020B0609020204030204" pitchFamily="49" charset="0"/>
            </a:endParaRPr>
          </a:p>
        </p:txBody>
      </p:sp>
    </p:spTree>
    <p:extLst>
      <p:ext uri="{BB962C8B-B14F-4D97-AF65-F5344CB8AC3E}">
        <p14:creationId xmlns:p14="http://schemas.microsoft.com/office/powerpoint/2010/main" val="1445742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p:txBody>
          <a:bodyPr/>
          <a:lstStyle/>
          <a:p>
            <a:r>
              <a:rPr lang="en-US" dirty="0" smtClean="0"/>
              <a:t>DAILY % GROSS PROFIT PER UNIT</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7</a:t>
            </a:fld>
            <a:endParaRPr lang="en-US" dirty="0"/>
          </a:p>
        </p:txBody>
      </p:sp>
      <p:pic>
        <p:nvPicPr>
          <p:cNvPr id="3" name="Picture 2"/>
          <p:cNvPicPr>
            <a:picLocks noChangeAspect="1"/>
          </p:cNvPicPr>
          <p:nvPr/>
        </p:nvPicPr>
        <p:blipFill>
          <a:blip r:embed="rId3"/>
          <a:stretch>
            <a:fillRect/>
          </a:stretch>
        </p:blipFill>
        <p:spPr>
          <a:xfrm>
            <a:off x="420132" y="2219626"/>
            <a:ext cx="4889805" cy="2755631"/>
          </a:xfrm>
          <a:prstGeom prst="rect">
            <a:avLst/>
          </a:prstGeom>
        </p:spPr>
      </p:pic>
      <p:pic>
        <p:nvPicPr>
          <p:cNvPr id="4" name="Picture 3"/>
          <p:cNvPicPr>
            <a:picLocks noChangeAspect="1"/>
          </p:cNvPicPr>
          <p:nvPr/>
        </p:nvPicPr>
        <p:blipFill>
          <a:blip r:embed="rId4"/>
          <a:stretch>
            <a:fillRect/>
          </a:stretch>
        </p:blipFill>
        <p:spPr>
          <a:xfrm>
            <a:off x="6384573" y="2219626"/>
            <a:ext cx="5045427" cy="2755631"/>
          </a:xfrm>
          <a:prstGeom prst="rect">
            <a:avLst/>
          </a:prstGeom>
        </p:spPr>
      </p:pic>
      <p:sp>
        <p:nvSpPr>
          <p:cNvPr id="6" name="TextBox 5"/>
          <p:cNvSpPr txBox="1"/>
          <p:nvPr/>
        </p:nvSpPr>
        <p:spPr>
          <a:xfrm flipH="1">
            <a:off x="420132" y="5072896"/>
            <a:ext cx="11066585" cy="1785104"/>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In both January and November, the product’s daily % gross profit per unit remained consistently below zero, indicating that each unit was sold at a loss throughout these months.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January, despite fluctuations in overall daily % gross profit, the per-unit margins never reached positive territory, suggesting that costs per unit exceeded the sales price on every day.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Similarly</a:t>
            </a:r>
            <a:r>
              <a:rPr lang="en-US" sz="1100" dirty="0">
                <a:latin typeface="Consolas" panose="020B0609020204030204" pitchFamily="49" charset="0"/>
              </a:rPr>
              <a:t>, in November, even though overall daily % gross profit showed periods of recovery and moderate profitability, the per-unit gross profit continued to stay negative, highlighting that individual unit sales were still loss-making despite improvements at the aggregate level. This consistent negative performance per unit underscores challenges in covering unit-level costs and the need for pricing or cost adjustments.</a:t>
            </a:r>
            <a:endParaRPr lang="en-ZA" sz="1100" dirty="0">
              <a:latin typeface="Consolas" panose="020B0609020204030204" pitchFamily="49" charset="0"/>
            </a:endParaRPr>
          </a:p>
        </p:txBody>
      </p:sp>
    </p:spTree>
    <p:extLst>
      <p:ext uri="{BB962C8B-B14F-4D97-AF65-F5344CB8AC3E}">
        <p14:creationId xmlns:p14="http://schemas.microsoft.com/office/powerpoint/2010/main" val="58842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a:xfrm>
            <a:off x="1403684" y="246186"/>
            <a:ext cx="9585158" cy="1037492"/>
          </a:xfrm>
        </p:spPr>
        <p:txBody>
          <a:bodyPr/>
          <a:lstStyle/>
          <a:p>
            <a:r>
              <a:rPr lang="en-US" dirty="0"/>
              <a:t>Impact of Promotional Pricing on January Sales Performance</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8</a:t>
            </a:fld>
            <a:endParaRPr lang="en-US" dirty="0"/>
          </a:p>
        </p:txBody>
      </p:sp>
      <p:pic>
        <p:nvPicPr>
          <p:cNvPr id="5" name="Picture 4"/>
          <p:cNvPicPr>
            <a:picLocks noChangeAspect="1"/>
          </p:cNvPicPr>
          <p:nvPr/>
        </p:nvPicPr>
        <p:blipFill>
          <a:blip r:embed="rId3"/>
          <a:stretch>
            <a:fillRect/>
          </a:stretch>
        </p:blipFill>
        <p:spPr>
          <a:xfrm>
            <a:off x="991169" y="2155458"/>
            <a:ext cx="5364945" cy="2755631"/>
          </a:xfrm>
          <a:prstGeom prst="rect">
            <a:avLst/>
          </a:prstGeom>
        </p:spPr>
      </p:pic>
      <p:sp>
        <p:nvSpPr>
          <p:cNvPr id="6" name="TextBox 5"/>
          <p:cNvSpPr txBox="1"/>
          <p:nvPr/>
        </p:nvSpPr>
        <p:spPr>
          <a:xfrm>
            <a:off x="6927721" y="2155458"/>
            <a:ext cx="4900863" cy="2862322"/>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Consolas" panose="020B0609020204030204" pitchFamily="49" charset="0"/>
              </a:rPr>
              <a:t>In January, the product showed clear differences between non-promotional and promotional days</a:t>
            </a:r>
            <a:r>
              <a:rPr lang="en-US" sz="1200" dirty="0" smtClean="0">
                <a:latin typeface="Consolas" panose="020B0609020204030204" pitchFamily="49" charset="0"/>
              </a:rPr>
              <a:t>.</a:t>
            </a:r>
          </a:p>
          <a:p>
            <a:pPr marL="171450" indent="-171450">
              <a:buFont typeface="Arial" panose="020B0604020202020204" pitchFamily="34" charset="0"/>
              <a:buChar char="•"/>
            </a:pPr>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 </a:t>
            </a:r>
            <a:r>
              <a:rPr lang="en-US" sz="1200" dirty="0">
                <a:latin typeface="Consolas" panose="020B0609020204030204" pitchFamily="49" charset="0"/>
              </a:rPr>
              <a:t>On non-promotional days, sales were moderate, with 3,179 to 7,479 units sold at around R35 per unit, generating daily sales of R111,650 to </a:t>
            </a:r>
            <a:r>
              <a:rPr lang="en-US" sz="1200" dirty="0" smtClean="0">
                <a:latin typeface="Consolas" panose="020B0609020204030204" pitchFamily="49" charset="0"/>
              </a:rPr>
              <a:t>R262,421</a:t>
            </a:r>
            <a:r>
              <a:rPr lang="en-US" sz="1200" dirty="0">
                <a:latin typeface="Consolas" panose="020B0609020204030204" pitchFamily="49" charset="0"/>
              </a:rPr>
              <a:t>.</a:t>
            </a:r>
            <a:endParaRPr lang="en-US" sz="1200" dirty="0" smtClean="0">
              <a:latin typeface="Consolas" panose="020B0609020204030204" pitchFamily="49" charset="0"/>
            </a:endParaRPr>
          </a:p>
          <a:p>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Promotional </a:t>
            </a:r>
            <a:r>
              <a:rPr lang="en-US" sz="1200" dirty="0">
                <a:latin typeface="Consolas" panose="020B0609020204030204" pitchFamily="49" charset="0"/>
              </a:rPr>
              <a:t>days, however, drove dramatic increases in demand: 11,900 to 15,345 units were sold at discounted prices (~R33–R34), yielding sales up to R512,603. </a:t>
            </a:r>
            <a:endParaRPr lang="en-US" sz="1200" dirty="0" smtClean="0">
              <a:latin typeface="Consolas" panose="020B0609020204030204" pitchFamily="49" charset="0"/>
            </a:endParaRPr>
          </a:p>
          <a:p>
            <a:endParaRPr lang="en-US" sz="1200" dirty="0" smtClean="0">
              <a:latin typeface="Consolas" panose="020B0609020204030204" pitchFamily="49" charset="0"/>
            </a:endParaRPr>
          </a:p>
          <a:p>
            <a:pPr marL="171450" indent="-171450">
              <a:buFont typeface="Arial" panose="020B0604020202020204" pitchFamily="34" charset="0"/>
              <a:buChar char="•"/>
            </a:pPr>
            <a:r>
              <a:rPr lang="en-US" sz="1200" dirty="0" smtClean="0">
                <a:latin typeface="Consolas" panose="020B0609020204030204" pitchFamily="49" charset="0"/>
              </a:rPr>
              <a:t>This </a:t>
            </a:r>
            <a:r>
              <a:rPr lang="en-US" sz="1200" dirty="0">
                <a:latin typeface="Consolas" panose="020B0609020204030204" pitchFamily="49" charset="0"/>
              </a:rPr>
              <a:t>demonstrates that promotions significantly boost sales volume, highlighting the product’s high price sensitivity and the effectiveness of discounts in driving customer purchases.</a:t>
            </a:r>
            <a:endParaRPr lang="en-ZA" sz="1200" dirty="0">
              <a:latin typeface="Consolas" panose="020B0609020204030204" pitchFamily="49" charset="0"/>
            </a:endParaRPr>
          </a:p>
        </p:txBody>
      </p:sp>
    </p:spTree>
    <p:extLst>
      <p:ext uri="{BB962C8B-B14F-4D97-AF65-F5344CB8AC3E}">
        <p14:creationId xmlns:p14="http://schemas.microsoft.com/office/powerpoint/2010/main" val="1423561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a:xfrm>
            <a:off x="1556084" y="144379"/>
            <a:ext cx="8422105" cy="1155341"/>
          </a:xfrm>
        </p:spPr>
        <p:txBody>
          <a:bodyPr/>
          <a:lstStyle/>
          <a:p>
            <a:r>
              <a:rPr lang="en-US" dirty="0" smtClean="0"/>
              <a:t>Price </a:t>
            </a:r>
            <a:r>
              <a:rPr lang="en-US" dirty="0"/>
              <a:t>Elasticity of Demand Analysis for Promotional Periods in </a:t>
            </a:r>
            <a:r>
              <a:rPr lang="en-US" dirty="0" smtClean="0"/>
              <a:t>January</a:t>
            </a:r>
            <a:endParaRPr lang="en-US" dirty="0"/>
          </a:p>
        </p:txBody>
      </p:sp>
      <p:graphicFrame>
        <p:nvGraphicFramePr>
          <p:cNvPr id="3" name="Table 2">
            <a:extLst>
              <a:ext uri="{FF2B5EF4-FFF2-40B4-BE49-F238E27FC236}">
                <a16:creationId xmlns:a16="http://schemas.microsoft.com/office/drawing/2014/main" id="{BEE52E89-C526-4F73-86FB-0EB31587CD33}"/>
              </a:ext>
            </a:extLst>
          </p:cNvPr>
          <p:cNvGraphicFramePr>
            <a:graphicFrameLocks noGrp="1"/>
          </p:cNvGraphicFramePr>
          <p:nvPr>
            <p:extLst>
              <p:ext uri="{D42A27DB-BD31-4B8C-83A1-F6EECF244321}">
                <p14:modId xmlns:p14="http://schemas.microsoft.com/office/powerpoint/2010/main" val="2131467510"/>
              </p:ext>
            </p:extLst>
          </p:nvPr>
        </p:nvGraphicFramePr>
        <p:xfrm>
          <a:off x="668216" y="1925053"/>
          <a:ext cx="9598729" cy="4059563"/>
        </p:xfrm>
        <a:graphic>
          <a:graphicData uri="http://schemas.openxmlformats.org/drawingml/2006/table">
            <a:tbl>
              <a:tblPr firstRow="1" bandRow="1">
                <a:tableStyleId>{5C22544A-7EE6-4342-B048-85BDC9FD1C3A}</a:tableStyleId>
              </a:tblPr>
              <a:tblGrid>
                <a:gridCol w="1371247">
                  <a:extLst>
                    <a:ext uri="{9D8B030D-6E8A-4147-A177-3AD203B41FA5}">
                      <a16:colId xmlns:a16="http://schemas.microsoft.com/office/drawing/2014/main" val="3943075526"/>
                    </a:ext>
                  </a:extLst>
                </a:gridCol>
                <a:gridCol w="1371247">
                  <a:extLst>
                    <a:ext uri="{9D8B030D-6E8A-4147-A177-3AD203B41FA5}">
                      <a16:colId xmlns:a16="http://schemas.microsoft.com/office/drawing/2014/main" val="159159419"/>
                    </a:ext>
                  </a:extLst>
                </a:gridCol>
                <a:gridCol w="1371247">
                  <a:extLst>
                    <a:ext uri="{9D8B030D-6E8A-4147-A177-3AD203B41FA5}">
                      <a16:colId xmlns:a16="http://schemas.microsoft.com/office/drawing/2014/main" val="2785900615"/>
                    </a:ext>
                  </a:extLst>
                </a:gridCol>
                <a:gridCol w="1371247">
                  <a:extLst>
                    <a:ext uri="{9D8B030D-6E8A-4147-A177-3AD203B41FA5}">
                      <a16:colId xmlns:a16="http://schemas.microsoft.com/office/drawing/2014/main" val="2287965835"/>
                    </a:ext>
                  </a:extLst>
                </a:gridCol>
                <a:gridCol w="1371247">
                  <a:extLst>
                    <a:ext uri="{9D8B030D-6E8A-4147-A177-3AD203B41FA5}">
                      <a16:colId xmlns:a16="http://schemas.microsoft.com/office/drawing/2014/main" val="1756528531"/>
                    </a:ext>
                  </a:extLst>
                </a:gridCol>
                <a:gridCol w="1411003">
                  <a:extLst>
                    <a:ext uri="{9D8B030D-6E8A-4147-A177-3AD203B41FA5}">
                      <a16:colId xmlns:a16="http://schemas.microsoft.com/office/drawing/2014/main" val="3202057861"/>
                    </a:ext>
                  </a:extLst>
                </a:gridCol>
                <a:gridCol w="1331491">
                  <a:extLst>
                    <a:ext uri="{9D8B030D-6E8A-4147-A177-3AD203B41FA5}">
                      <a16:colId xmlns:a16="http://schemas.microsoft.com/office/drawing/2014/main" val="2509247184"/>
                    </a:ext>
                  </a:extLst>
                </a:gridCol>
              </a:tblGrid>
              <a:tr h="1103003">
                <a:tc>
                  <a:txBody>
                    <a:bodyPr/>
                    <a:lstStyle/>
                    <a:p>
                      <a:pPr algn="ctr"/>
                      <a:r>
                        <a:rPr lang="en-IN" dirty="0" smtClean="0">
                          <a:latin typeface="+mj-lt"/>
                        </a:rPr>
                        <a:t>Promotional Days</a:t>
                      </a:r>
                      <a:endParaRPr lang="en-IN" dirty="0">
                        <a:latin typeface="+mj-lt"/>
                      </a:endParaRPr>
                    </a:p>
                  </a:txBody>
                  <a:tcPr anchor="ctr">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IN" dirty="0" smtClean="0">
                          <a:latin typeface="+mj-lt"/>
                        </a:rPr>
                        <a:t>Unit Price</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IN" dirty="0" smtClean="0">
                          <a:latin typeface="+mj-lt"/>
                        </a:rPr>
                        <a:t>Quantity</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smtClean="0">
                          <a:latin typeface="+mj-lt"/>
                        </a:rPr>
                        <a:t>%</a:t>
                      </a:r>
                      <a:r>
                        <a:rPr lang="en-IN" baseline="0" dirty="0" smtClean="0">
                          <a:latin typeface="+mj-lt"/>
                        </a:rPr>
                        <a:t> Change in price</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IN" sz="1800" b="1" kern="1200" dirty="0" smtClean="0">
                          <a:solidFill>
                            <a:schemeClr val="lt1"/>
                          </a:solidFill>
                          <a:latin typeface="+mn-lt"/>
                          <a:ea typeface="+mn-ea"/>
                          <a:cs typeface="+mn-cs"/>
                        </a:rPr>
                        <a:t>%</a:t>
                      </a:r>
                      <a:r>
                        <a:rPr lang="en-IN" sz="1800" b="1" kern="1200" baseline="0" dirty="0" smtClean="0">
                          <a:solidFill>
                            <a:schemeClr val="lt1"/>
                          </a:solidFill>
                          <a:latin typeface="+mn-lt"/>
                          <a:ea typeface="+mn-ea"/>
                          <a:cs typeface="+mn-cs"/>
                        </a:rPr>
                        <a:t> Change in </a:t>
                      </a:r>
                      <a:r>
                        <a:rPr lang="en-IN" sz="1800" b="1" kern="1200" baseline="0" dirty="0" err="1" smtClean="0">
                          <a:solidFill>
                            <a:schemeClr val="lt1"/>
                          </a:solidFill>
                          <a:latin typeface="+mn-lt"/>
                          <a:ea typeface="+mn-ea"/>
                          <a:cs typeface="+mn-cs"/>
                        </a:rPr>
                        <a:t>Qty</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IN" dirty="0" smtClean="0">
                          <a:latin typeface="+mj-lt"/>
                        </a:rPr>
                        <a:t>PED</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IN" dirty="0" smtClean="0">
                          <a:latin typeface="+mj-lt"/>
                        </a:rPr>
                        <a:t>PED</a:t>
                      </a:r>
                      <a:r>
                        <a:rPr lang="en-IN" baseline="0" dirty="0" smtClean="0">
                          <a:latin typeface="+mj-lt"/>
                        </a:rPr>
                        <a:t> Category</a:t>
                      </a:r>
                      <a:endParaRPr lang="en-IN" dirty="0">
                        <a:latin typeface="+mj-lt"/>
                      </a:endParaRPr>
                    </a:p>
                  </a:txBody>
                  <a:tcPr anchor="ctr">
                    <a:lnL w="6350" cap="flat" cmpd="sng" algn="ctr">
                      <a:solidFill>
                        <a:schemeClr val="bg1">
                          <a:lumMod val="65000"/>
                        </a:schemeClr>
                      </a:solidFill>
                      <a:prstDash val="solid"/>
                      <a:round/>
                      <a:headEnd type="none" w="med" len="med"/>
                      <a:tailEnd type="none" w="med" len="med"/>
                    </a:lnL>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730668"/>
                  </a:ext>
                </a:extLst>
              </a:tr>
              <a:tr h="10348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29</a:t>
                      </a:r>
                      <a:r>
                        <a:rPr lang="en-IN" sz="1600" baseline="30000" dirty="0" smtClean="0">
                          <a:latin typeface="+mn-lt"/>
                        </a:rPr>
                        <a:t>th</a:t>
                      </a:r>
                      <a:r>
                        <a:rPr lang="en-IN" sz="1600" baseline="0" dirty="0" smtClean="0">
                          <a:latin typeface="+mn-lt"/>
                        </a:rPr>
                        <a:t> Jan</a:t>
                      </a:r>
                      <a:endParaRPr lang="en-IN" sz="1600" dirty="0">
                        <a:latin typeface="+mn-lt"/>
                      </a:endParaRPr>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33</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11900</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(33.4 – 35.1) ÷ 35.1 × 100 ≈ </a:t>
                      </a:r>
                    </a:p>
                    <a:p>
                      <a:pPr algn="ctr"/>
                      <a:r>
                        <a:rPr lang="en-ZA" sz="1600" b="1" dirty="0" smtClean="0"/>
                        <a:t>-4.85%</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(11,900 – 3,179) ÷ 3,179 × 100 ≈ </a:t>
                      </a:r>
                      <a:r>
                        <a:rPr lang="en-ZA" sz="1600" b="1" dirty="0" smtClean="0"/>
                        <a:t>274.6%</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274.6 ÷ -4.85 ≈ </a:t>
                      </a:r>
                      <a:r>
                        <a:rPr lang="en-ZA" sz="1600" b="1" dirty="0" smtClean="0"/>
                        <a:t>-56.6</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ZA" sz="1600" b="0" dirty="0" smtClean="0"/>
                        <a:t>Highly Elastic</a:t>
                      </a:r>
                    </a:p>
                    <a:p>
                      <a:pPr algn="ct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60814750"/>
                  </a:ext>
                </a:extLst>
              </a:tr>
              <a:tr h="10348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30</a:t>
                      </a:r>
                      <a:r>
                        <a:rPr lang="en-IN" sz="1600" baseline="30000" dirty="0" smtClean="0">
                          <a:latin typeface="+mn-lt"/>
                        </a:rPr>
                        <a:t>th</a:t>
                      </a:r>
                      <a:r>
                        <a:rPr lang="en-IN" sz="1600" baseline="0" dirty="0" smtClean="0">
                          <a:latin typeface="+mn-lt"/>
                        </a:rPr>
                        <a:t> </a:t>
                      </a:r>
                      <a:r>
                        <a:rPr lang="en-IN" sz="1600" dirty="0" smtClean="0">
                          <a:latin typeface="+mn-lt"/>
                        </a:rPr>
                        <a:t>Jan</a:t>
                      </a:r>
                      <a:endParaRPr lang="en-IN" sz="1600" dirty="0">
                        <a:latin typeface="+mn-lt"/>
                      </a:endParaRPr>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33</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15345</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(33.4 – 35.1) ÷ 35.1 × 100 ≈ </a:t>
                      </a:r>
                    </a:p>
                    <a:p>
                      <a:pPr algn="ctr"/>
                      <a:r>
                        <a:rPr lang="en-ZA" sz="1600" b="1" dirty="0" smtClean="0"/>
                        <a:t>-4.85%</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(15,345 – 3,179) ÷ 3,179 × 100 ≈ </a:t>
                      </a:r>
                      <a:r>
                        <a:rPr lang="en-ZA" sz="1600" b="1" dirty="0" smtClean="0"/>
                        <a:t>382.2%</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382.2 ÷ -4.85 ≈ </a:t>
                      </a:r>
                      <a:r>
                        <a:rPr lang="en-ZA" sz="1600" b="1" dirty="0" smtClean="0"/>
                        <a:t>-78.8</a:t>
                      </a:r>
                      <a:r>
                        <a:rPr lang="en-ZA" sz="1600" dirty="0" smtClean="0"/>
                        <a:t> </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Highly Elastic</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186541597"/>
                  </a:ext>
                </a:extLst>
              </a:tr>
              <a:tr h="7983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31</a:t>
                      </a:r>
                      <a:r>
                        <a:rPr lang="en-IN" sz="1600" baseline="30000" dirty="0" smtClean="0">
                          <a:latin typeface="+mn-lt"/>
                        </a:rPr>
                        <a:t>st</a:t>
                      </a:r>
                      <a:r>
                        <a:rPr lang="en-IN" sz="1600" dirty="0" smtClean="0">
                          <a:latin typeface="+mn-lt"/>
                        </a:rPr>
                        <a:t> Jan</a:t>
                      </a:r>
                      <a:endParaRPr lang="en-IN" sz="1600" dirty="0">
                        <a:latin typeface="+mn-lt"/>
                      </a:endParaRPr>
                    </a:p>
                  </a:txBody>
                  <a:tcPr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33</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smtClean="0">
                          <a:latin typeface="+mn-lt"/>
                        </a:rPr>
                        <a:t>6525</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dirty="0" smtClean="0"/>
                        <a:t>(33.4 – 35.1) ÷ 35.1 × 100 ≈ </a:t>
                      </a:r>
                    </a:p>
                    <a:p>
                      <a:pPr algn="ctr"/>
                      <a:r>
                        <a:rPr lang="en-ZA" sz="1600" b="1" dirty="0" smtClean="0"/>
                        <a:t>-4.85%</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ZA" sz="1600" dirty="0" smtClean="0"/>
                        <a:t>(6525– 3,179) ÷ 3,179 × 100 ≈</a:t>
                      </a:r>
                      <a:r>
                        <a:rPr lang="en-ZA" sz="1600" b="1" dirty="0" smtClean="0"/>
                        <a:t>95.8%</a:t>
                      </a:r>
                      <a:endParaRPr lang="en-IN" sz="1600"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IN" sz="1600" dirty="0" smtClean="0">
                          <a:latin typeface="+mn-lt"/>
                        </a:rPr>
                        <a:t>95.8</a:t>
                      </a:r>
                      <a:r>
                        <a:rPr lang="en-ZA" sz="1600" dirty="0" smtClean="0"/>
                        <a:t>÷ -4.85</a:t>
                      </a:r>
                    </a:p>
                    <a:p>
                      <a:pPr algn="ctr"/>
                      <a:r>
                        <a:rPr lang="en-ZA" sz="1600" b="1" dirty="0" smtClean="0"/>
                        <a:t>−19.76</a:t>
                      </a:r>
                      <a:endParaRPr lang="en-IN" sz="1600" b="1" dirty="0">
                        <a:latin typeface="+mn-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ZA" sz="1600" b="0" dirty="0" smtClean="0"/>
                        <a:t>extremely high elasticity</a:t>
                      </a:r>
                      <a:endParaRPr lang="en-IN" sz="1600" b="0" dirty="0">
                        <a:latin typeface="+mn-lt"/>
                      </a:endParaRPr>
                    </a:p>
                  </a:txBody>
                  <a:tcPr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32936508"/>
                  </a:ext>
                </a:extLst>
              </a:tr>
            </a:tbl>
          </a:graphicData>
        </a:graphic>
      </p:graphicFrame>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9</a:t>
            </a:fld>
            <a:endParaRPr lang="en-US" dirty="0"/>
          </a:p>
        </p:txBody>
      </p:sp>
      <p:sp>
        <p:nvSpPr>
          <p:cNvPr id="4" name="TextBox 3"/>
          <p:cNvSpPr txBox="1"/>
          <p:nvPr/>
        </p:nvSpPr>
        <p:spPr>
          <a:xfrm>
            <a:off x="732385" y="6218567"/>
            <a:ext cx="9598729" cy="369332"/>
          </a:xfrm>
          <a:prstGeom prst="rect">
            <a:avLst/>
          </a:prstGeom>
          <a:noFill/>
        </p:spPr>
        <p:txBody>
          <a:bodyPr wrap="square" rtlCol="0">
            <a:spAutoFit/>
          </a:bodyPr>
          <a:lstStyle/>
          <a:p>
            <a:r>
              <a:rPr lang="en-ZA" dirty="0" smtClean="0">
                <a:solidFill>
                  <a:srgbClr val="FF0000"/>
                </a:solidFill>
              </a:rPr>
              <a:t>Reference of non-promotional day is </a:t>
            </a:r>
            <a:r>
              <a:rPr lang="en-ZA" b="1" dirty="0" smtClean="0">
                <a:solidFill>
                  <a:srgbClr val="FF0000"/>
                </a:solidFill>
              </a:rPr>
              <a:t>1 Jan</a:t>
            </a:r>
            <a:r>
              <a:rPr lang="en-ZA" dirty="0" smtClean="0">
                <a:solidFill>
                  <a:srgbClr val="FF0000"/>
                </a:solidFill>
              </a:rPr>
              <a:t>, with the unit price of 35 and quantity of 3179 sold</a:t>
            </a:r>
            <a:endParaRPr lang="en-ZA" dirty="0">
              <a:solidFill>
                <a:srgbClr val="FF0000"/>
              </a:solidFill>
            </a:endParaRPr>
          </a:p>
        </p:txBody>
      </p:sp>
    </p:spTree>
    <p:extLst>
      <p:ext uri="{BB962C8B-B14F-4D97-AF65-F5344CB8AC3E}">
        <p14:creationId xmlns:p14="http://schemas.microsoft.com/office/powerpoint/2010/main" val="389201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a:xfrm>
            <a:off x="1419726" y="246186"/>
            <a:ext cx="8783053" cy="1037492"/>
          </a:xfrm>
        </p:spPr>
        <p:txBody>
          <a:bodyPr/>
          <a:lstStyle/>
          <a:p>
            <a:r>
              <a:rPr lang="en-US" dirty="0"/>
              <a:t>Does this product perform better or worse when sold at a promotional price?</a:t>
            </a:r>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10</a:t>
            </a:fld>
            <a:endParaRPr lang="en-US" dirty="0"/>
          </a:p>
        </p:txBody>
      </p:sp>
      <p:sp>
        <p:nvSpPr>
          <p:cNvPr id="3" name="TextBox 2"/>
          <p:cNvSpPr txBox="1"/>
          <p:nvPr/>
        </p:nvSpPr>
        <p:spPr>
          <a:xfrm>
            <a:off x="930442" y="2133600"/>
            <a:ext cx="10371221" cy="2246769"/>
          </a:xfrm>
          <a:prstGeom prst="rect">
            <a:avLst/>
          </a:prstGeom>
          <a:noFill/>
        </p:spPr>
        <p:txBody>
          <a:bodyPr wrap="square" rtlCol="0">
            <a:spAutoFit/>
          </a:bodyPr>
          <a:lstStyle/>
          <a:p>
            <a:r>
              <a:rPr lang="en-US" sz="2000" dirty="0">
                <a:latin typeface="Consolas" panose="020B0609020204030204" pitchFamily="49" charset="0"/>
              </a:rPr>
              <a:t>Based on the PED calculations, the product is highly elastic during promotional periods. On 29 Jan (PED ≈ −56.6) and 30 Jan (PED ≈ −78.8), small price reductions of ~4.85% led to massive increases in quantity sold (274.6% and 382.2%, respectively). On 31 Jan, PED ≈ −19.76, with a 95.8% increase in quantity. These results show that the product performs much better when sold at a promotional price, as discounts drive substantial increases in sales volume.</a:t>
            </a:r>
            <a:endParaRPr lang="en-ZA" sz="2000" dirty="0">
              <a:latin typeface="Consolas" panose="020B0609020204030204" pitchFamily="49" charset="0"/>
            </a:endParaRPr>
          </a:p>
        </p:txBody>
      </p:sp>
    </p:spTree>
    <p:extLst>
      <p:ext uri="{BB962C8B-B14F-4D97-AF65-F5344CB8AC3E}">
        <p14:creationId xmlns:p14="http://schemas.microsoft.com/office/powerpoint/2010/main" val="3840247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9737-6B13-46AD-93F6-FE801BC76D26}"/>
              </a:ext>
            </a:extLst>
          </p:cNvPr>
          <p:cNvSpPr>
            <a:spLocks noGrp="1"/>
          </p:cNvSpPr>
          <p:nvPr>
            <p:ph type="title"/>
          </p:nvPr>
        </p:nvSpPr>
        <p:spPr>
          <a:xfrm>
            <a:off x="1419726" y="246186"/>
            <a:ext cx="8783053" cy="1037492"/>
          </a:xfrm>
        </p:spPr>
        <p:txBody>
          <a:bodyPr/>
          <a:lstStyle/>
          <a:p>
            <a:r>
              <a:rPr lang="en-US" dirty="0" smtClean="0"/>
              <a:t>conclusion</a:t>
            </a:r>
            <a:endParaRPr lang="en-US" dirty="0"/>
          </a:p>
        </p:txBody>
      </p:sp>
      <p:sp>
        <p:nvSpPr>
          <p:cNvPr id="7" name="Slide Number Placeholder 6">
            <a:extLst>
              <a:ext uri="{FF2B5EF4-FFF2-40B4-BE49-F238E27FC236}">
                <a16:creationId xmlns:a16="http://schemas.microsoft.com/office/drawing/2014/main" id="{92278B5B-9720-4024-9F7A-8708A62D8A05}"/>
              </a:ext>
            </a:extLst>
          </p:cNvPr>
          <p:cNvSpPr>
            <a:spLocks noGrp="1"/>
          </p:cNvSpPr>
          <p:nvPr>
            <p:ph type="sldNum" sz="quarter" idx="12"/>
          </p:nvPr>
        </p:nvSpPr>
        <p:spPr/>
        <p:txBody>
          <a:bodyPr/>
          <a:lstStyle/>
          <a:p>
            <a:fld id="{48BB047D-A6CD-43AB-96F0-683C726B586B}" type="slidenum">
              <a:rPr lang="en-US" smtClean="0"/>
              <a:pPr/>
              <a:t>11</a:t>
            </a:fld>
            <a:endParaRPr lang="en-US" dirty="0"/>
          </a:p>
        </p:txBody>
      </p:sp>
      <p:sp>
        <p:nvSpPr>
          <p:cNvPr id="3" name="TextBox 2"/>
          <p:cNvSpPr txBox="1"/>
          <p:nvPr/>
        </p:nvSpPr>
        <p:spPr>
          <a:xfrm>
            <a:off x="930442" y="2133600"/>
            <a:ext cx="10371221" cy="2585323"/>
          </a:xfrm>
          <a:prstGeom prst="rect">
            <a:avLst/>
          </a:prstGeom>
          <a:noFill/>
        </p:spPr>
        <p:txBody>
          <a:bodyPr wrap="square" rtlCol="0">
            <a:spAutoFit/>
          </a:bodyPr>
          <a:lstStyle/>
          <a:p>
            <a:r>
              <a:rPr lang="en-US" dirty="0">
                <a:latin typeface="Consolas" panose="020B0609020204030204" pitchFamily="49" charset="0"/>
              </a:rPr>
              <a:t>The product is highly sensitive to price changes. In January, promotional prices (~R33–R34) led to large increases in quantity sold compared to normal prices (~R35), as shown by very high PED values (−56.6 to −19.8). Non-promotional days had moderate sales and mixed gross profit, sometimes negative per day. In November, higher prices (R43–R44) produced stable overall profit, but the daily profit per unit remained negative, indicating that unit costs were higher than selling prices. Overall, promotions strongly boost sales volume, making discounts an effective strategy, though careful monitoring of per-unit profitability is needed to maintain sustainable earnings.</a:t>
            </a:r>
            <a:endParaRPr lang="en-ZA" dirty="0">
              <a:latin typeface="Consolas" panose="020B0609020204030204" pitchFamily="49" charset="0"/>
            </a:endParaRPr>
          </a:p>
        </p:txBody>
      </p:sp>
    </p:spTree>
    <p:extLst>
      <p:ext uri="{BB962C8B-B14F-4D97-AF65-F5344CB8AC3E}">
        <p14:creationId xmlns:p14="http://schemas.microsoft.com/office/powerpoint/2010/main" val="366741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erial view bridge over water">
            <a:extLst>
              <a:ext uri="{FF2B5EF4-FFF2-40B4-BE49-F238E27FC236}">
                <a16:creationId xmlns:a16="http://schemas.microsoft.com/office/drawing/2014/main" id="{A02A293F-91B7-40E6-B378-A5EED474FFBA}"/>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a:xfrm>
            <a:off x="-24063" y="1"/>
            <a:ext cx="4424363" cy="6858000"/>
          </a:xfrm>
        </p:spPr>
      </p:pic>
      <p:sp>
        <p:nvSpPr>
          <p:cNvPr id="6" name="Title 5">
            <a:extLst>
              <a:ext uri="{FF2B5EF4-FFF2-40B4-BE49-F238E27FC236}">
                <a16:creationId xmlns:a16="http://schemas.microsoft.com/office/drawing/2014/main" id="{9DD519AC-7392-4C53-9E3F-08F1208BC2CB}"/>
              </a:ext>
            </a:extLst>
          </p:cNvPr>
          <p:cNvSpPr>
            <a:spLocks noGrp="1"/>
          </p:cNvSpPr>
          <p:nvPr>
            <p:ph type="title"/>
          </p:nvPr>
        </p:nvSpPr>
        <p:spPr/>
        <p:txBody>
          <a:bodyPr/>
          <a:lstStyle/>
          <a:p>
            <a:r>
              <a:rPr lang="en-US" dirty="0"/>
              <a:t>Thank You</a:t>
            </a:r>
          </a:p>
        </p:txBody>
      </p:sp>
      <p:sp>
        <p:nvSpPr>
          <p:cNvPr id="8" name="Subtitle 7">
            <a:extLst>
              <a:ext uri="{FF2B5EF4-FFF2-40B4-BE49-F238E27FC236}">
                <a16:creationId xmlns:a16="http://schemas.microsoft.com/office/drawing/2014/main" id="{9A294210-0A3A-40B7-8019-FDFD9DA7592B}"/>
              </a:ext>
            </a:extLst>
          </p:cNvPr>
          <p:cNvSpPr>
            <a:spLocks noGrp="1"/>
          </p:cNvSpPr>
          <p:nvPr>
            <p:ph type="subTitle" idx="1"/>
          </p:nvPr>
        </p:nvSpPr>
        <p:spPr/>
        <p:txBody>
          <a:bodyPr/>
          <a:lstStyle/>
          <a:p>
            <a:r>
              <a:rPr lang="en-US" dirty="0" smtClean="0"/>
              <a:t>gmoabalobelo@gmail.com</a:t>
            </a:r>
            <a:endParaRPr lang="en-US" dirty="0"/>
          </a:p>
        </p:txBody>
      </p:sp>
      <p:sp>
        <p:nvSpPr>
          <p:cNvPr id="2" name="TextBox 1"/>
          <p:cNvSpPr txBox="1"/>
          <p:nvPr/>
        </p:nvSpPr>
        <p:spPr>
          <a:xfrm>
            <a:off x="5526504" y="4948989"/>
            <a:ext cx="5309938" cy="369332"/>
          </a:xfrm>
          <a:prstGeom prst="rect">
            <a:avLst/>
          </a:prstGeom>
          <a:noFill/>
        </p:spPr>
        <p:txBody>
          <a:bodyPr wrap="square" rtlCol="0">
            <a:spAutoFit/>
          </a:bodyPr>
          <a:lstStyle/>
          <a:p>
            <a:r>
              <a:rPr lang="en-ZA" dirty="0" smtClean="0"/>
              <a:t>https://www.linkedin.com/in/gomolemo-moabalobelo</a:t>
            </a:r>
            <a:endParaRPr lang="en-ZA" dirty="0"/>
          </a:p>
        </p:txBody>
      </p:sp>
    </p:spTree>
    <p:extLst>
      <p:ext uri="{BB962C8B-B14F-4D97-AF65-F5344CB8AC3E}">
        <p14:creationId xmlns:p14="http://schemas.microsoft.com/office/powerpoint/2010/main" val="1044043446"/>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2.xml><?xml version="1.0" encoding="utf-8"?>
<ds:datastoreItem xmlns:ds="http://schemas.openxmlformats.org/officeDocument/2006/customXml" ds:itemID="{330CE401-796E-4493-905E-4DDA5AF62AB4}">
  <ds:schemaRef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71af3243-3dd4-4a8d-8c0d-dd76da1f02a5"/>
    <ds:schemaRef ds:uri="http://www.w3.org/XML/1998/namespace"/>
    <ds:schemaRef ds:uri="http://purl.org/dc/terms/"/>
  </ds:schemaRefs>
</ds:datastoreItem>
</file>

<file path=customXml/itemProps3.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1293</Words>
  <Application>Microsoft Office PowerPoint</Application>
  <PresentationFormat>Widescreen</PresentationFormat>
  <Paragraphs>108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SALES analysis Presentation</vt:lpstr>
      <vt:lpstr>TABLE OF CONTENT</vt:lpstr>
      <vt:lpstr>iNTROdution</vt:lpstr>
      <vt:lpstr>Daily and average unit sales price</vt:lpstr>
      <vt:lpstr>Daily and average unit sales price</vt:lpstr>
      <vt:lpstr>DAILY % GROSS PROFIT</vt:lpstr>
      <vt:lpstr>DAILY % GROSS PROFIT PER UNIT</vt:lpstr>
      <vt:lpstr>Impact of Promotional Pricing on January Sales Performance</vt:lpstr>
      <vt:lpstr>Price Elasticity of Demand Analysis for Promotional Periods in January</vt:lpstr>
      <vt:lpstr>Does this product perform better or worse when sold at a promotional price?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2025-11-15T16:25:00Z</dcterms:created>
  <dcterms:modified xsi:type="dcterms:W3CDTF">2025-11-15T22:09:44Z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